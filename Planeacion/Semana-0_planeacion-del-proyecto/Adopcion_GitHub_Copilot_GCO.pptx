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3" Type="http://schemas.openxmlformats.org/officeDocument/2006/relationships/officeDocument" Target="ppt/presentation.xml" /><Relationship Id="rId4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55448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19456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83464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347472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11480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75488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Adopción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Grupo Catalana Occidente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2011680" cy="4572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estratégica para acelerar la adopción real · Mayo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 · Raona · Transformación Digital con 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reto: licencias activas, resistencia activa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50876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508760"/>
            <a:ext cx="2743200" cy="64008"/>
          </a:xfrm>
          <a:prstGeom prst="rect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6642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sesiones de formación completadas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377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básicos · Uso práctico · Agentes y MCP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50876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508760"/>
            <a:ext cx="2743200" cy="64008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6642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principal: Visual Studio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2377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· .NET · DB2 · PL/SQL · 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50876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08760"/>
            <a:ext cx="2743200" cy="64008"/>
          </a:xfrm>
          <a:prstGeom prst="rect">
            <a:avLst/>
          </a:prstGeom>
          <a:solidFill>
            <a:srgbClr val="E07000"/>
          </a:solidFill>
          <a:ln w="12700">
            <a:solidFill>
              <a:srgbClr val="E07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6642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activa al cambio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36792" y="2377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se percibe como amenaza o como irrelevante para COBOL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520440"/>
            <a:ext cx="8449056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520440"/>
            <a:ext cx="73152" cy="118872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844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clave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88620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formación técnica se completó, pero el hábito de uso no se instaló. La palanca no es más formación — es contenido de alto valor que demuestre utilidad inmediata en el contexto real de GCO.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ACTUAR AHORA?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de ventaja competitiva es ahora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554480"/>
            <a:ext cx="393192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54480" y="1627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en tareas repetitivas de código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48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State of AI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606040"/>
            <a:ext cx="393192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517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554480" y="2679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código generado con asistencia IA en proyectos activos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200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Octoverse 2024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3657600"/>
            <a:ext cx="393192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033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554480" y="37307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rápido: documentación, testing y análisis de errores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25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Developer Productivity Study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508760"/>
            <a:ext cx="420624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508760"/>
            <a:ext cx="4206240" cy="73152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572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NOVEDADES ESTA SEMANA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993392"/>
            <a:ext cx="54864" cy="438912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965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lanza modo de razonamiento extendido (GPT-4.1 y o3) — análisis de código más profundo y preciso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679192"/>
            <a:ext cx="54864" cy="438912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651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integración nativa con Azure DevOps: Copilot ya puede leer y crear work items directamente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364992"/>
            <a:ext cx="54864" cy="438912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337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Workspace en GA: entorno completo para tareas de desarrollo autónomo desde un issue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4050792"/>
            <a:ext cx="54864" cy="438912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en Visual Studio 2022: sugerencias multi-línea COBOL con contexto de copybooks abiertos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ESTRATÉGICA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líneas de actuación complementarias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463040"/>
            <a:ext cx="4069080" cy="150876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63040"/>
            <a:ext cx="73152" cy="150876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72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y generación de valor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042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MS Teams como espacio central de adopción. Contenidos prácticos, casos reales, novedades y métricas de productividad adaptadas al contexto de GCO.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3154680"/>
            <a:ext cx="4069080" cy="150876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3154680"/>
            <a:ext cx="73152" cy="1508760"/>
          </a:xfrm>
          <a:prstGeom prst="rect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644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3630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acompañamiento al usuario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995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AMA abiertas + sesiones 1:1 reservables vía Bookings (15-30 min). Soporte continuo post-formación para resolver bloqueos específicos.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81728" y="1463040"/>
            <a:ext cx="4069080" cy="150876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1463040"/>
            <a:ext cx="73152" cy="1508760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572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82896" y="1938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de Product Owners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82896" y="23042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Involucrar a los POs en la detección de casos de éxito. Usar IAAudit de Raona para entender su punto de partida e incorporar IA en su gestión diaria.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81728" y="3154680"/>
            <a:ext cx="4069080" cy="150876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1728" y="3154680"/>
            <a:ext cx="73152" cy="1508760"/>
          </a:xfrm>
          <a:prstGeom prst="rect">
            <a:avLst/>
          </a:prstGeom>
          <a:solidFill>
            <a:srgbClr val="828282"/>
          </a:solidFill>
          <a:ln w="12700">
            <a:solidFill>
              <a:srgbClr val="8282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32644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8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82896" y="3630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modelo de trabajo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82896" y="3995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Spec-Driven Development como evolución futura — metodología guiada por especificaciones. No es despliegue inmediato; es visión estratégica a preparar.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CONTENIDOS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menos a más: 4 fases progresivas para vencer la resistencia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" y="1444752"/>
            <a:ext cx="1993392" cy="333756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44752"/>
            <a:ext cx="1993392" cy="73152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810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Concienciación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100584" cy="100584"/>
          </a:xfrm>
          <a:prstGeom prst="ellipse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957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como IA corporativa de GCO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00584" cy="100584"/>
          </a:xfrm>
          <a:prstGeom prst="ellipse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productividad y datos reales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767328"/>
            <a:ext cx="100584" cy="100584"/>
          </a:xfrm>
          <a:prstGeom prst="ellipse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7124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y actualizaciones de la plataforma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23744" y="1444752"/>
            <a:ext cx="1993392" cy="333756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23744" y="1444752"/>
            <a:ext cx="1993392" cy="73152"/>
          </a:xfrm>
          <a:prstGeom prst="rect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4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15184" y="1810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nativo (Visual Studio)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33472" y="2450592"/>
            <a:ext cx="100584" cy="100584"/>
          </a:xfrm>
          <a:prstGeom prst="ellipse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98064" y="23957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pasos en el IDE habitual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33472" y="3108960"/>
            <a:ext cx="100584" cy="100584"/>
          </a:xfrm>
          <a:prstGeom prst="ellipse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9806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Modos: Pregunta vs. Agente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33472" y="3767328"/>
            <a:ext cx="100584" cy="100584"/>
          </a:xfrm>
          <a:prstGeom prst="ellipse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98064" y="37124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resolver un bug COBOL/DB2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0016" y="1444752"/>
            <a:ext cx="1993392" cy="333756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0016" y="1444752"/>
            <a:ext cx="1993392" cy="73152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91456" y="1810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Multi-entorno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09744" y="2450592"/>
            <a:ext cx="100584" cy="100584"/>
          </a:xfrm>
          <a:prstGeom prst="ellipse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23957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a Visual Studio Code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9744" y="3108960"/>
            <a:ext cx="100584" cy="100584"/>
          </a:xfrm>
          <a:prstGeom prst="ellipse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en terminal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9744" y="3767328"/>
            <a:ext cx="100584" cy="100584"/>
          </a:xfrm>
          <a:prstGeom prst="ellipse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37124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productivo en los 3 entornos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76288" y="1444752"/>
            <a:ext cx="1993392" cy="333756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76288" y="1444752"/>
            <a:ext cx="1993392" cy="7315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67728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67728" y="1810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Customización avanzada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986016" y="2450592"/>
            <a:ext cx="100584" cy="10058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0608" y="23957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copilot-instructions.md: guiar el agente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986016" y="3108960"/>
            <a:ext cx="100584" cy="10058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0608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.github para el proyecto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86016" y="3767328"/>
            <a:ext cx="100584" cy="10058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50608" y="37124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automática con estándares GCO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49424" y="3108960"/>
            <a:ext cx="320040" cy="0"/>
          </a:xfrm>
          <a:prstGeom prst="line">
            <a:avLst/>
          </a:prstGeom>
          <a:noFill/>
          <a:ln w="19050">
            <a:solidFill>
              <a:srgbClr val="82828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25696" y="3108960"/>
            <a:ext cx="320040" cy="0"/>
          </a:xfrm>
          <a:prstGeom prst="line">
            <a:avLst/>
          </a:prstGeom>
          <a:noFill/>
          <a:ln w="19050">
            <a:solidFill>
              <a:srgbClr val="8282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01968" y="3108960"/>
            <a:ext cx="320040" cy="0"/>
          </a:xfrm>
          <a:prstGeom prst="line">
            <a:avLst/>
          </a:prstGeom>
          <a:noFill/>
          <a:ln w="19050">
            <a:solidFill>
              <a:srgbClr val="82828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MS TEAMS — ESTRUCTURA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comunidad de adopción: 6 canales con propósito definido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06240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73152" cy="1024128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Anuncios y Tips Ágiles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837944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principal. Tips de 3 puntos, datos de productividad, novedades de Copilot. Cadencia: 2x semana.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587752"/>
            <a:ext cx="4206240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587752"/>
            <a:ext cx="73152" cy="1024128"/>
          </a:xfrm>
          <a:prstGeom prst="rect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609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Primeros Pasos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008376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básicas para activar la herramienta: confirmar licencia, ubicar Copilot en Visual Studio, primer prompt.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758184"/>
            <a:ext cx="4206240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758184"/>
            <a:ext cx="73152" cy="1024128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3133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Casos de Uso Reales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17880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de GCO: bugs COBOL, análisis de SQLCODE, refactorización .NET, consultas DB2. 1x/semana.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4206240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417320"/>
            <a:ext cx="73152" cy="1024128"/>
          </a:xfrm>
          <a:prstGeom prst="rect">
            <a:avLst/>
          </a:prstGeom>
          <a:solidFill>
            <a:srgbClr val="E07000"/>
          </a:solidFill>
          <a:ln w="12700">
            <a:solidFill>
              <a:srgbClr val="E07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4904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Foro AMA — Ask Me Anything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1837944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preguntas abiertas. Sesiones quincenales en vivo. Dudas y respuestas de la comunidad entre sesiones.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587752"/>
            <a:ext cx="4206240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587752"/>
            <a:ext cx="73152" cy="10241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6609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Reservas 1:1 con Expertos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37760" y="3008376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a Bookings para sesiones de 15-30 minutos con un especialista. Soporte personalizado siempre activo.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758184"/>
            <a:ext cx="4206240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758184"/>
            <a:ext cx="73152" cy="1024128"/>
          </a:xfrm>
          <a:prstGeom prst="rect">
            <a:avLst/>
          </a:prstGeom>
          <a:solidFill>
            <a:srgbClr val="828282"/>
          </a:solidFill>
          <a:ln w="12700">
            <a:solidFill>
              <a:srgbClr val="828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83133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Casos de Éxito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0" y="417880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valor documentadas: quién lo probó, qué resolvió, cuánto tiempo ahorró. Visibilidad de logros.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— CONTENIDOS DE LANZAMIENTO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impacto: persuadir antes que enseñar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semana 1 no enseña funcionalidades — despierta el interés mostrando por qué quien adopta primero lleva ventaja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8458200" cy="59436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27632"/>
            <a:ext cx="64008" cy="59436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y Tips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 bienvenida + propósito del canal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49040" y="1691640"/>
            <a:ext cx="0" cy="45720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6733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Tono: 'Esto no es otro curso. Es el espacio donde vas a encontrar lo que te sirve hoy.'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295144"/>
            <a:ext cx="8458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95144"/>
            <a:ext cx="64008" cy="59436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31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y Tips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569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#TipÁgil: Las 3 cosas que más ahorran tiempo con Copilot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49040" y="2359152"/>
            <a:ext cx="0" cy="45720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23408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impactante + caso COBOL real de las sesiones. Foco en vanguardia competitiva.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62656"/>
            <a:ext cx="8458200" cy="59436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62656"/>
            <a:ext cx="64008" cy="594360"/>
          </a:xfrm>
          <a:prstGeom prst="rect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99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Pasos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236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rápida: ¿Tienes la licencia activa?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49040" y="3026664"/>
            <a:ext cx="0" cy="45720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30083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en 3 pasos. Sin fricción. Sin tecnicismos. Enlace a arquitectura para solicitar acceso.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30168"/>
            <a:ext cx="8458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630168"/>
            <a:ext cx="64008" cy="59436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66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y Tips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3904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#DatoÚtil: Quién se monta en esta ola primero gana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49040" y="3694176"/>
            <a:ext cx="0" cy="45720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36758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Infografía de métricas: 55% menos tiempo repetitivo · 46% código con IA · 3x más rápido en documentación.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297680"/>
            <a:ext cx="8458200" cy="59436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297680"/>
            <a:ext cx="64008" cy="59436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342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y Tips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4572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 de la semana: Copilot en Visual Studio — nueva función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49040" y="4361688"/>
            <a:ext cx="0" cy="45720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4343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novedad más relevante de GitHub Copilot esta semana. Anclar al entorno de GCO.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 EDITORIAL Y FORMATOS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sostenible, formatos que no abruman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53035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371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contenido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77640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530352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/ semana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8308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Tips, datos, novedades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7764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y Tips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212848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58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/ semana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83080" y="2258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 o activación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77640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Pasos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688336"/>
            <a:ext cx="530352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340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1-2x / semana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83080" y="2734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real COBOL·.NET·DB2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77640" y="27340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Reales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163824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09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Quincenal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83080" y="3209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AMA en vivo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77640" y="32095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 AMA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639312"/>
            <a:ext cx="530352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85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83080" y="3685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1:1 reservables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977640" y="3685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con Expertos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97880" y="1371600"/>
            <a:ext cx="288036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97880" y="1371600"/>
            <a:ext cx="2880360" cy="64008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14356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EXCLUSIVOS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1901952"/>
            <a:ext cx="2606040" cy="640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 de 3 puntos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22219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Concreto, accionable. El dev lo prueba en 5 minutos.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2651760"/>
            <a:ext cx="2606040" cy="640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2670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Guión de infografía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visual para diseño en Claude Design.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3401568"/>
            <a:ext cx="2606040" cy="640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34198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Script micro-vídeo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35040" y="3721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90 segundos. Caso real GCO.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4151376"/>
            <a:ext cx="2606040" cy="6400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1696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Mensaje de impacto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35040" y="44714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párrafo. Directo al dolor o al beneficio.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Y HORIZONTE DE EJECUCIÓN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en tres horizontes con métricas de decisión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743200" cy="35204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2743200" cy="64008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" y="2048256"/>
            <a:ext cx="24688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450592"/>
            <a:ext cx="82296" cy="82296"/>
          </a:xfrm>
          <a:prstGeom prst="ellipse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canal Teams + mensaje de bienvenida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" y="2798064"/>
            <a:ext cx="82296" cy="82296"/>
          </a:xfrm>
          <a:prstGeom prst="ellipse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743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8-10 contenidos Fase 1 (concienciación)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3145536"/>
            <a:ext cx="82296" cy="82296"/>
          </a:xfrm>
          <a:prstGeom prst="ellipse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1:1 via Bookings + primer AMA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" y="3493008"/>
            <a:ext cx="82296" cy="82296"/>
          </a:xfrm>
          <a:prstGeom prst="ellipse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4381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publicar el primer caso de éxito real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" y="3822192"/>
            <a:ext cx="24688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decisión: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Reacciones por publicación (Teams) · Preguntas en foro AMA · Reservas 1:1 realizadas · Casos de uso identificados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1389888"/>
            <a:ext cx="2743200" cy="35204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389888"/>
            <a:ext cx="2743200" cy="64008"/>
          </a:xfrm>
          <a:prstGeom prst="rect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4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55848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2–3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55848" y="2048256"/>
            <a:ext cx="24688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2450592"/>
            <a:ext cx="82296" cy="82296"/>
          </a:xfrm>
          <a:prstGeom prst="ellipse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2152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a Fase 2: Visual Studio y debugging real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64992" y="2798064"/>
            <a:ext cx="82296" cy="82296"/>
          </a:xfrm>
          <a:prstGeom prst="ellipse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2152" y="2743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Design System con Claude Design (marca GCO)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64992" y="3145536"/>
            <a:ext cx="82296" cy="82296"/>
          </a:xfrm>
          <a:prstGeom prst="ellipse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02152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Involucrar a 2-3 POs como embajadores internos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64992" y="3493008"/>
            <a:ext cx="82296" cy="82296"/>
          </a:xfrm>
          <a:prstGeom prst="ellipse">
            <a:avLst/>
          </a:prstGeom>
          <a:solidFill>
            <a:srgbClr val="0049B2"/>
          </a:solidFill>
          <a:ln w="12700">
            <a:solidFill>
              <a:srgbClr val="0049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02152" y="34381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primeros casos de éxito documentados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55848" y="3822192"/>
            <a:ext cx="24688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5584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4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decisión: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5584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Copilot en GitHub Dashboard · Asistencia a AMAs y calidad de preguntas · Número de casos de éxito documentados · Percepción de utilidad (encuesta rápida)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72200" y="1389888"/>
            <a:ext cx="2743200" cy="35204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1389888"/>
            <a:ext cx="2743200" cy="64008"/>
          </a:xfrm>
          <a:prstGeom prst="rect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81928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81928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4+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81928" y="2048256"/>
            <a:ext cx="24688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91072" y="2450592"/>
            <a:ext cx="82296" cy="82296"/>
          </a:xfrm>
          <a:prstGeom prst="ellipse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3 y 4: VS Code, CLI, customización avanzada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91072" y="2798064"/>
            <a:ext cx="82296" cy="82296"/>
          </a:xfrm>
          <a:prstGeom prst="ellipse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2743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ejecutiva de Spec-Driven Development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3145536"/>
            <a:ext cx="82296" cy="82296"/>
          </a:xfrm>
          <a:prstGeom prst="ellipse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comunidad a toda la organización técnica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91072" y="3493008"/>
            <a:ext cx="82296" cy="82296"/>
          </a:xfrm>
          <a:prstGeom prst="ellipse">
            <a:avLst/>
          </a:prstGeom>
          <a:solidFill>
            <a:srgbClr val="007A4D"/>
          </a:solidFill>
          <a:ln w="12700">
            <a:solidFill>
              <a:srgbClr val="007A4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34381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piloto acotado de metodología nueva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81928" y="3822192"/>
            <a:ext cx="24688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8192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decisión: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8192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sostenida (% developers activos) · Reducción de tiempo en tareas repetitivas · ROI de licencias (estimado por POs) · Madurez: % usuarios en Fase 3-4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55448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19456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83464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347472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11480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75488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02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decisiones estratégicas sobre la mesa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11480" y="1572768"/>
            <a:ext cx="832104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572768"/>
            <a:ext cx="64008" cy="82296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62763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98448" y="162763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es la palanca que la formación no pudo ser. Sin un canal activo con valor diario, la resistencia no se rompe. Con él, sí.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578608"/>
            <a:ext cx="832104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78608"/>
            <a:ext cx="64008" cy="82296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3347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98448" y="263347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simple y rápido vale más que esperar el plan perfecto. Las primeras 2 semanas no necesitan cubrir todo — necesitan crear el hábito.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584448"/>
            <a:ext cx="832104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584448"/>
            <a:ext cx="64008" cy="82296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3931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98448" y="363931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de corto plazo deciden el siguiente paso. Si el canal se mueve, escalamos. Si no, ajustamos antes de invertir más.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C0028"/>
          </a:solidFill>
          <a:ln w="12700">
            <a:solidFill>
              <a:srgbClr val="DC00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arrancamos? · raona.com · GCO Transformación Digital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acb5d12-1d8f-4d93-9a80-c6221259aedb}" enabled="1" method="Privileged" siteId="{a2927dc6-fd53-4ed2-94f0-7772c3efd74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Adopción GitHub Copilot — GCO</dc:title>
  <dc:subject>PptxGenJS Presentation</dc:subject>
  <dc:creator>PptxGenJS</dc:creator>
  <cp:lastModifiedBy>PptxGenJS</cp:lastModifiedBy>
  <cp:revision>1</cp:revision>
  <dcterms:created xsi:type="dcterms:W3CDTF">2026-05-08T01:02:29Z</dcterms:created>
  <dcterms:modified xsi:type="dcterms:W3CDTF">2026-05-08T01:02:29Z</dcterms:modified>
</cp:coreProperties>
</file>